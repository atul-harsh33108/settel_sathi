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3000a87034c56" /><Relationship Type="http://schemas.openxmlformats.org/officeDocument/2006/relationships/extended-properties" Target="/docProps/app.xml" Id="R2046335535f54304" /><Relationship Type="http://schemas.openxmlformats.org/officeDocument/2006/relationships/officeDocument" Target="/ppt/presentation.xml" Id="R23d0c54c6c63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c074e15ba42aa"/>
  </p:sldMasterIdLst>
  <p:notesMasterIdLst>
    <p:notesMasterId xmlns:r="http://schemas.openxmlformats.org/officeDocument/2006/relationships" r:id="R9e8ff636cbdd4513"/>
  </p:notesMasterIdLst>
  <p:sldIdLst>
    <p:sldId xmlns:r="http://schemas.openxmlformats.org/officeDocument/2006/relationships" id="256" r:id="Raaf0cc98f7e84cfe"/>
    <p:sldId xmlns:r="http://schemas.openxmlformats.org/officeDocument/2006/relationships" id="257" r:id="R691856ca0d834676"/>
    <p:sldId xmlns:r="http://schemas.openxmlformats.org/officeDocument/2006/relationships" id="258" r:id="R5bbbf8c6c90f44ab"/>
    <p:sldId xmlns:r="http://schemas.openxmlformats.org/officeDocument/2006/relationships" id="259" r:id="R498a6731add34b95"/>
    <p:sldId xmlns:r="http://schemas.openxmlformats.org/officeDocument/2006/relationships" id="260" r:id="R4b6ba7e26dc44551"/>
    <p:sldId xmlns:r="http://schemas.openxmlformats.org/officeDocument/2006/relationships" id="261" r:id="Rd134e844fcb24f1f"/>
    <p:sldId xmlns:r="http://schemas.openxmlformats.org/officeDocument/2006/relationships" id="262" r:id="R601d86460f5d454b"/>
    <p:sldId xmlns:r="http://schemas.openxmlformats.org/officeDocument/2006/relationships" id="263" r:id="R866aebe7133048a6"/>
    <p:sldId xmlns:r="http://schemas.openxmlformats.org/officeDocument/2006/relationships" id="264" r:id="R3c208981fda9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b958768624592" /><Relationship Type="http://schemas.openxmlformats.org/officeDocument/2006/relationships/slideMaster" Target="/ppt/slideMasters/slideMaster1.xml" Id="R3e6c074e15ba42aa" /><Relationship Type="http://schemas.openxmlformats.org/officeDocument/2006/relationships/notesMaster" Target="/ppt/notesMasters/notesMaster1.xml" Id="R9e8ff636cbdd4513" /><Relationship Type="http://schemas.openxmlformats.org/officeDocument/2006/relationships/presProps" Target="/ppt/presProps.xml" Id="R03898c13b71c40d3" /><Relationship Type="http://schemas.openxmlformats.org/officeDocument/2006/relationships/tableStyles" Target="/ppt/tableStyles.xml" Id="R7be4fd0cea654a74" /><Relationship Type="http://schemas.openxmlformats.org/officeDocument/2006/relationships/slide" Target="/ppt/slides/slide1.xml" Id="Raaf0cc98f7e84cfe" /><Relationship Type="http://schemas.openxmlformats.org/officeDocument/2006/relationships/slide" Target="/ppt/slides/slide2.xml" Id="R691856ca0d834676" /><Relationship Type="http://schemas.openxmlformats.org/officeDocument/2006/relationships/slide" Target="/ppt/slides/slide3.xml" Id="R5bbbf8c6c90f44ab" /><Relationship Type="http://schemas.openxmlformats.org/officeDocument/2006/relationships/slide" Target="/ppt/slides/slide4.xml" Id="R498a6731add34b95" /><Relationship Type="http://schemas.openxmlformats.org/officeDocument/2006/relationships/slide" Target="/ppt/slides/slide5.xml" Id="R4b6ba7e26dc44551" /><Relationship Type="http://schemas.openxmlformats.org/officeDocument/2006/relationships/slide" Target="/ppt/slides/slide6.xml" Id="Rd134e844fcb24f1f" /><Relationship Type="http://schemas.openxmlformats.org/officeDocument/2006/relationships/slide" Target="/ppt/slides/slide7.xml" Id="R601d86460f5d454b" /><Relationship Type="http://schemas.openxmlformats.org/officeDocument/2006/relationships/slide" Target="/ppt/slides/slide8.xml" Id="R866aebe7133048a6" /><Relationship Type="http://schemas.openxmlformats.org/officeDocument/2006/relationships/slide" Target="/ppt/slides/slide9.xml" Id="R3c208981fda9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c60fccc5c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1a5d0e7c1a4637" /><Relationship Type="http://schemas.openxmlformats.org/officeDocument/2006/relationships/notesMaster" Target="/ppt/notesMasters/notesMaster1.xml" Id="R40c016f7fbed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9b1447cf04a78" /><Relationship Type="http://schemas.openxmlformats.org/officeDocument/2006/relationships/notesMaster" Target="/ppt/notesMasters/notesMaster1.xml" Id="Rb9ea9a6b1066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64cd001b4489c" /><Relationship Type="http://schemas.openxmlformats.org/officeDocument/2006/relationships/notesMaster" Target="/ppt/notesMasters/notesMaster1.xml" Id="R2b7e6625eba4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bf8b062044258" /><Relationship Type="http://schemas.openxmlformats.org/officeDocument/2006/relationships/notesMaster" Target="/ppt/notesMasters/notesMaster1.xml" Id="R5f8c156c36f944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7a994b6d7f4ea4" /><Relationship Type="http://schemas.openxmlformats.org/officeDocument/2006/relationships/notesMaster" Target="/ppt/notesMasters/notesMaster1.xml" Id="R9482fb411cca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3de08dc8e43f8" /><Relationship Type="http://schemas.openxmlformats.org/officeDocument/2006/relationships/notesMaster" Target="/ppt/notesMasters/notesMaster1.xml" Id="R1e7b5255ab8d48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b86d400e64837" /><Relationship Type="http://schemas.openxmlformats.org/officeDocument/2006/relationships/notesMaster" Target="/ppt/notesMasters/notesMaster1.xml" Id="Rbf750577fdc14f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d43e802124a9d" /><Relationship Type="http://schemas.openxmlformats.org/officeDocument/2006/relationships/notesMaster" Target="/ppt/notesMasters/notesMaster1.xml" Id="Rd85ad8df551a41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6f07344c8c4486" /><Relationship Type="http://schemas.openxmlformats.org/officeDocument/2006/relationships/notesMaster" Target="/ppt/notesMasters/notesMaster1.xml" Id="R07ed31e7e0d5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pitch based on the repository README, SettleSaathi PRD v1.0, and Release 0 delivery tracker. The visual palette takes inspiration from Paytm blue and cyan. This is an independent project concept and does not claim Paytm affiliation or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SettleSaathi PRD v1.0, sections 1 and 4. The problem statement summarizes the repository product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SettleSaathi PRD v1.0 and docs/MVP_SCOPE.md. The product description reflects the intended workflow, not a claim that all parts are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docs/DEMO_SCENARIO.md and fixtures/synthetic/v1/expected_results.json, scenario SCN-02. All names, records, amounts and outcomes in this scenario are synthetic. “₹0 matched” describes only the imported statement period and does not mean the funds are lost.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docs/DEMO_SCENARIO.md and docs/AGENTIC_ARCHITECTURE.md. The stages describe the planned end-to-end product flow; case monitoring and verification are not yet implemented in the current MVP tracker.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SettleSaathi PRD v1.0 sections 1 and 2, and docs/SECURITY_GOVERNANCE.md. The controls are product requirements and do not imply production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SettleSaathi PRD v1.0 sections 1, 2 and 3. The pricing approach is a commercial hypothesis introduced for validation; no pricing or market-size data appears in the project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docs/implementation/TRACKER.md, Release 0 Delivery Tracker, current status as of 31 October 2026. “Done” and “Not started” reproduce tracked milestone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ask added for pitch context, not stated as an existing project commitment. Success measures come from the project PRD. The project currently uses synthetic data and mock connectors; real provider or bank integrations are out of scope for the current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41675a7304c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ea8d5e3ea42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cdb4fdb274c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66d4f094c41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850d89f984b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9f5eecd55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139093-CEA0-475F-B82B-347DA17C7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D34C69-2E3D-45C0-B8CF-66CCC9EC7C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04B71A-E6A0-415A-A9A5-11950074F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A3C8CB-DD0E-4E23-B9BD-253D1B3F7D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1C551D-1BD3-44B7-BD2D-3BC9AD751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98AD0A-6A3E-4535-9700-93F461261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60046D-97E9-4022-987A-1C870BA77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A9F4C0-FB60-4E46-AF0A-F3A59D091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0E52E3-A38A-46D3-9272-CCD916781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9EFB5B-AD91-45D0-96DE-83CE718344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17fd127774846" /><Relationship Type="http://schemas.openxmlformats.org/officeDocument/2006/relationships/slideLayout" Target="/ppt/slideLayouts/slideLayout1.xml" Id="Rff0108c5115f4530" /><Relationship Type="http://schemas.openxmlformats.org/officeDocument/2006/relationships/slideLayout" Target="/ppt/slideLayouts/slideLayout2.xml" Id="Rf31a593c6ed543e3" /><Relationship Type="http://schemas.openxmlformats.org/officeDocument/2006/relationships/slideLayout" Target="/ppt/slideLayouts/slideLayout3.xml" Id="R5b83261856434e3e" /><Relationship Type="http://schemas.openxmlformats.org/officeDocument/2006/relationships/slideLayout" Target="/ppt/slideLayouts/slideLayout4.xml" Id="R8b9b6d3bb43f42bc" /><Relationship Type="http://schemas.openxmlformats.org/officeDocument/2006/relationships/slideLayout" Target="/ppt/slideLayouts/slideLayout5.xml" Id="Rdd0dd621239e43df" /><Relationship Type="http://schemas.openxmlformats.org/officeDocument/2006/relationships/slideLayout" Target="/ppt/slideLayouts/slideLayout6.xml" Id="R86daf5c05f83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108c5115f4530"/>
    <p:sldLayoutId xmlns:r="http://schemas.openxmlformats.org/officeDocument/2006/relationships" id="2147483650" r:id="Rf31a593c6ed543e3"/>
    <p:sldLayoutId xmlns:r="http://schemas.openxmlformats.org/officeDocument/2006/relationships" id="2147483651" r:id="R5b83261856434e3e"/>
    <p:sldLayoutId xmlns:r="http://schemas.openxmlformats.org/officeDocument/2006/relationships" id="2147483652" r:id="R8b9b6d3bb43f42bc"/>
    <p:sldLayoutId xmlns:r="http://schemas.openxmlformats.org/officeDocument/2006/relationships" id="2147483653" r:id="Rdd0dd621239e43df"/>
    <p:sldLayoutId xmlns:r="http://schemas.openxmlformats.org/officeDocument/2006/relationships" id="2147483654" r:id="R86daf5c05f83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3dc9a680d4109" /><Relationship Type="http://schemas.openxmlformats.org/officeDocument/2006/relationships/notesSlide" Target="/ppt/notesSlides/notesSlide1.xml" Id="Ra177ed9e93c44b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7db036ad74eac" /><Relationship Type="http://schemas.openxmlformats.org/officeDocument/2006/relationships/notesSlide" Target="/ppt/notesSlides/notesSlide2.xml" Id="Rf09504b94bd240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25ba76e094390" /><Relationship Type="http://schemas.openxmlformats.org/officeDocument/2006/relationships/notesSlide" Target="/ppt/notesSlides/notesSlide3.xml" Id="R631be4fe4e6e4b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429b3176346d7" /><Relationship Type="http://schemas.openxmlformats.org/officeDocument/2006/relationships/notesSlide" Target="/ppt/notesSlides/notesSlide4.xml" Id="R85c1e5612ec64c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59cf4807f4306" /><Relationship Type="http://schemas.openxmlformats.org/officeDocument/2006/relationships/notesSlide" Target="/ppt/notesSlides/notesSlide5.xml" Id="Rbb6b16cdbc894f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09b9c9d2b410a" /><Relationship Type="http://schemas.openxmlformats.org/officeDocument/2006/relationships/notesSlide" Target="/ppt/notesSlides/notesSlide6.xml" Id="R7fe2b3bb442b4f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12baa93f44a1f" /><Relationship Type="http://schemas.openxmlformats.org/officeDocument/2006/relationships/notesSlide" Target="/ppt/notesSlides/notesSlide7.xml" Id="R43d6196b5ba9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520dfb0a94dd4" /><Relationship Type="http://schemas.openxmlformats.org/officeDocument/2006/relationships/notesSlide" Target="/ppt/notesSlides/notesSlide8.xml" Id="R738ecb7607174b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344801c6b4026" /><Relationship Type="http://schemas.openxmlformats.org/officeDocument/2006/relationships/notesSlide" Target="/ppt/notesSlides/notesSlide9.xml" Id="R4f20dc655c13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9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105F0A8-8261-4962-B5C2-8755195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lower-band">
            <a:extLst xmlns:a="http://schemas.openxmlformats.org/drawingml/2006/main">
              <a:ext uri="{FF2B5EF4-FFF2-40B4-BE49-F238E27FC236}">
                <a16:creationId xmlns:a16="http://schemas.microsoft.com/office/drawing/2014/main" id="{7694C10E-D281-4E11-A6C7-89572F7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62600"/>
            <a:ext cx="1219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0420-B9D8-4453-9A85-5B67DA6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SETTLEMENT OPERATIONS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4BC5AA-98AD-4C01-A1D6-1919186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SettleSaathi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6177E9B-F5D6-473A-951C-387BC8B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Settlement issues, owned through verified resolution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35CC4-3265-4794-B451-0F20427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FF8"/>
                </a:solidFill>
                <a:latin typeface="Arial"/>
                <a:ea typeface="Arial"/>
                <a:cs typeface="Arial"/>
              </a:rPr>
              <a:t>An AI-powered merchant operations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2C69-DCCF-4D2E-A593-7229EA4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43E53-32CC-492B-A67C-9A96A5D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Paytm-inspired blue palette. Independent project concept, not affiliated with Paytm.</a:t>
            </a:r>
          </a:p>
        </p:txBody>
      </p:sp>
    </p:spTree>
    <p:extLst>
      <p:ext uri="{BB962C8B-B14F-4D97-AF65-F5344CB8AC3E}">
        <p14:creationId xmlns:p14="http://schemas.microsoft.com/office/powerpoint/2010/main" val="975449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2446055F-2728-45DC-BED2-C514378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6886196-B570-4A77-9116-687C126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Settlement status can differ across systems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8FBF11CB-A5A3-459D-896C-5075EFCF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A simple question can require work across separate financial records.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79B2070-1A76-4C84-B903-1AE0399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9EDFE-A5F1-487F-91D9-659F08E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FA95B-4835-4264-A314-41F6AE10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3876-6352-4F4B-BDDD-2AD07BCD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THE MERCHANT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AEA29-DEEE-4AFF-8FF9-FFB537E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“Where is my money?”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9D7E-AA6B-46BD-ADD3-2CB6D05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572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Payment activity, provider settlement files, bank statements and support updates often sit in different places.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E822C-D535-439F-853A-EA0A93FE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B8050-BE0A-4598-B1D8-AA91FFD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THE RECONCILIATION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0E011-7235-4373-9F21-5EC55FF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Provider says “processed”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8073C-AB17-421F-8622-5428E56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4A313-753A-47AA-B7F7-F92D81FD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Bank record has no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4D3E3-EAFD-48F5-9269-D694B9C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719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306A4-89EA-4D18-875E-96B0C8E5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9075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Teams gather evidence, compare references, and follow up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1D5B3-EC4D-427B-96BB-69BF684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Provider status alone does not prove a bank credit.</a:t>
            </a:r>
          </a:p>
        </p:txBody>
      </p:sp>
    </p:spTree>
    <p:extLst>
      <p:ext uri="{BB962C8B-B14F-4D97-AF65-F5344CB8AC3E}">
        <p14:creationId xmlns:p14="http://schemas.microsoft.com/office/powerpoint/2010/main" val="1995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2D669C39-5E7F-4917-91F8-1EDA041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C678887-2A5D-44F5-869E-930B587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45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One workspace takes an exception from records to resolution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A85C1957-3E6F-4811-BA40-32C75E8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connects evidence, reconciliation and case follow-through.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3ADFB97-D51E-43CA-8598-BE9A0877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36072-741A-45B3-A3F8-F7A9843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E8CAE-D387-43A4-BE20-FAF4DC8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answer-rule-0">
            <a:extLst xmlns:a="http://schemas.openxmlformats.org/drawingml/2006/main">
              <a:ext uri="{FF2B5EF4-FFF2-40B4-BE49-F238E27FC236}">
                <a16:creationId xmlns:a16="http://schemas.microsoft.com/office/drawing/2014/main" id="{64C61DE3-0D0E-46A9-A7D7-955454AA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4E0A9-F3A9-4ACF-A8B0-79DAA36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BC88B-73DC-48AB-B403-93D2CCB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Match the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E2A6C-4C40-4C1E-9F74-6F4131E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Connect transactions to settlement entries, then compare payouts with bank credits.</a:t>
            </a:r>
          </a:p>
        </p:txBody>
      </p:sp>
      <p:sp>
        <p:nvSpPr>
          <p:cNvPr id="11" name="answer-rule-1">
            <a:extLst xmlns:a="http://schemas.openxmlformats.org/drawingml/2006/main">
              <a:ext uri="{FF2B5EF4-FFF2-40B4-BE49-F238E27FC236}">
                <a16:creationId xmlns:a16="http://schemas.microsoft.com/office/drawing/2014/main" id="{73FE2B5B-26D9-49BA-BBD7-6D6FDEC0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69983-A2B4-4B8D-BC5E-206A48B5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52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C7A10-525F-4344-AC68-97E2FABA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812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Explain 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9DBE1-ADB0-44CA-AE1E-988DE63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4802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Show the IDs, references and statement period behind each exception.</a:t>
            </a:r>
          </a:p>
        </p:txBody>
      </p:sp>
      <p:sp>
        <p:nvSpPr>
          <p:cNvPr id="15" name="answer-rule-2">
            <a:extLst xmlns:a="http://schemas.openxmlformats.org/drawingml/2006/main">
              <a:ext uri="{FF2B5EF4-FFF2-40B4-BE49-F238E27FC236}">
                <a16:creationId xmlns:a16="http://schemas.microsoft.com/office/drawing/2014/main" id="{500D7855-9F58-4273-8490-5D797A2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D41EF-5CE9-4713-953C-19722D1A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46FCA-5D72-42ED-9FB7-4D36DD3B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Carry the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262BE-9661-4793-AC63-A62F8CD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4802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Prepare approved follow-up, track responses and verify the final outcome.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E23B2-7EB8-41BF-A278-42C5F79E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 merchant operations layer across payment providers and supported bank data sources</a:t>
            </a:r>
          </a:p>
        </p:txBody>
      </p:sp>
    </p:spTree>
    <p:extLst>
      <p:ext uri="{BB962C8B-B14F-4D97-AF65-F5344CB8AC3E}">
        <p14:creationId xmlns:p14="http://schemas.microsoft.com/office/powerpoint/2010/main" val="771993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DBA9D189-3446-43F5-9C07-B0E46AB9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FBE802B-D331-4F62-9E8C-E1D95C9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87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Synthetic demo: ₹18,450 reported settled, ₹0 matched in bank data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2ECAF59F-1306-4216-88B8-20183F4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The product reports what the available evidence supports.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069BC32-6B8B-4AF4-8EBE-8A561709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A68E-278F-4404-A430-5C51BC7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ECAAE-5AF6-4885-B354-5594DA3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A6E43-041C-4A5E-AC43-732E5CDB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1719B-8489-4DAA-91DC-13202F3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₹18,450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C091C-C6BA-4A71-9E41-523ADFAF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D9AC-3527-47B7-9F58-711670C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Completed transactions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F1DC0-151F-4CB4-AAB4-E8E341C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7F7F2-97CA-49ED-9120-C3009A4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PROVIDER REPORTED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6A25F-6896-4798-961D-824DEF4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₹18,450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720FB-3035-47F5-AD8F-F6A62C30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2BAB6-BC44-4CF9-A00A-2398EB3A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Payout reference present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CE889-A309-4D90-85C3-AE06697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D0E1C-05CF-4ABE-B271-482FFF3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BANK 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F6D21-EEFE-4ECC-9678-806FC46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AFEA1-1121-4B78-A73B-E30AAD4A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5B239-3CF6-4380-8BE3-9BF02FB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No qualified credit in import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F393E-7BA0-4048-9461-FFE150EF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58531-5CB2-488F-A51C-3E3E1F58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UNMATCHED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9BB7E-D772-4BE8-8EA9-A8AAED7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payout has not been matched in the available bank data. The evidence does not establish that funds are lost.</a:t>
            </a:r>
          </a:p>
        </p:txBody>
      </p:sp>
    </p:spTree>
    <p:extLst>
      <p:ext uri="{BB962C8B-B14F-4D97-AF65-F5344CB8AC3E}">
        <p14:creationId xmlns:p14="http://schemas.microsoft.com/office/powerpoint/2010/main" val="778476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AF1A0AB1-91A7-4EA7-92F2-0E2FBA8B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E3E29D9-5FFA-43D5-ACDD-E1D4325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66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 controlled workflow moves from source data to verified outcome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6B8730D1-F21B-46EC-9E57-A50F292D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Each handoff keeps the source evidence attached to the case.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DA39B91-595D-4B6D-BA0E-8EC061A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7C2BE-13BF-4AD3-B0BA-08200984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F1991-A37C-4AC4-9316-78B4486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B87F6-D5AC-4236-969D-88ABEE63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node-0">
            <a:extLst xmlns:a="http://schemas.openxmlformats.org/drawingml/2006/main">
              <a:ext uri="{FF2B5EF4-FFF2-40B4-BE49-F238E27FC236}">
                <a16:creationId xmlns:a16="http://schemas.microsoft.com/office/drawing/2014/main" id="{9F8ACFA7-2622-483F-B1A1-66040BFB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D7872-F6CE-461D-9D4E-D8A609E7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71595-9DC5-480F-9D24-7C0A479B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5FDDB-9999-4949-A245-CB80BDE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Transactions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Settlement file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Bank statement</a:t>
            </a:r>
          </a:p>
        </p:txBody>
      </p:sp>
      <p:sp>
        <p:nvSpPr>
          <p:cNvPr id="12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B7D55A88-E299-4ECD-B94A-C332049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E2DF8-FDA6-4AA9-8F75-17F10383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2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2C96-A48D-4FBA-8D03-5AF11CC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F8DEA-164E-4372-8797-C2C21933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62375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 and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amount rules</a:t>
            </a:r>
          </a:p>
        </p:txBody>
      </p:sp>
      <p:sp>
        <p:nvSpPr>
          <p:cNvPr id="16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BF121547-4596-4060-9859-AE17295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E38DC-06E1-48F9-975D-E3834F78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97A5D-555A-4F3A-AE2D-E5F0CF49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8E7A0-43D6-4481-B91D-66AB781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Unmatched payout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with evidence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20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56E71D1B-B5BD-40DA-AE08-EDA10E8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FB7A9-1EC2-4338-87F1-2522F30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7AAF8-D5F5-4EB4-82E9-6D02751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8D125-EDB2-4051-ABAB-E09BAE7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62375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case draft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external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9BCE7-E8B9-42A6-835C-BEE864A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482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Human approval gate</a:t>
            </a:r>
          </a:p>
        </p:txBody>
      </p:sp>
      <p:sp>
        <p:nvSpPr>
          <p:cNvPr id="2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DDAE0021-6FBE-4CF4-98F2-774AF7A0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C9179-DB81-41F8-A59C-99A8C673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CE4D0-037D-4F79-BF68-3CF285E7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A6B3C-6FAD-4EBC-A621-0A6CE9E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Close only with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authoritative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outcome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5B35E-1539-4787-AC36-F6CCEB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 successful tool call is not the same as a verified business outcome.</a:t>
            </a:r>
          </a:p>
        </p:txBody>
      </p:sp>
    </p:spTree>
    <p:extLst>
      <p:ext uri="{BB962C8B-B14F-4D97-AF65-F5344CB8AC3E}">
        <p14:creationId xmlns:p14="http://schemas.microsoft.com/office/powerpoint/2010/main" val="2034040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13C17406-A461-4F2D-BDB1-8E5C06DE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5FDB32F-66F5-4E43-AE76-E204AD8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Deterministic money. Controlled actions.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C89969DD-B5AA-4823-9A98-071D93D2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Bounded autonomy keeps money facts and consequential actions under explicit controls.</a:t>
            </a:r>
          </a:p>
        </p:txBody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36FFDFD-F533-4698-9BBD-685FB5AC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6D48C-909F-4401-A90B-C772FCD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A0041-1215-47E6-963B-05005E0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9810-4873-4A17-BFF3-2A89208F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Money and matching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A3803-CAD1-472E-8E2A-47D37DC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 services calculate and classify financial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03F81-F9DE-4611-AACE-A5BDC08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1B524-D638-4C93-8C4F-B7C3F4D1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Agent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5E7ED-1348-4C22-9DFB-C41F213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Find evidence, explain the exception and prepare permitted workflow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5443A-0B2B-4372-A6A0-BEE677B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B9031-2C3C-4B22-9B7D-5EDF30B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Restricted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E323F-65EC-40CD-8288-CE17D74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 an authorized person to approve before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CBBDD-410A-4FEF-9F80-CAF8D977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59488-590C-44F0-B672-0DE157EB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Case 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1EEF3-10D9-4543-88A3-58CFBCE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 a supported terminal outcome from authoritative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F4E0C-48F7-44F0-B0BB-613069F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F1879-53DA-47D7-96CC-61F2552D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6F679-5093-42AD-8CB6-F9B888D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Retain source provenance, decisions, approvals and case events</a:t>
            </a:r>
          </a:p>
        </p:txBody>
      </p:sp>
    </p:spTree>
    <p:extLst>
      <p:ext uri="{BB962C8B-B14F-4D97-AF65-F5344CB8AC3E}">
        <p14:creationId xmlns:p14="http://schemas.microsoft.com/office/powerpoint/2010/main" val="361299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5EC00F78-9220-4B99-A53E-85B19D58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D2A9A96-F1CA-4EC0-81D5-832EA1E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03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Start with settlement reconciliation, then expand by provider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DBA81CD8-210F-4F8B-A7C0-0D22817E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A narrow initial workflow can test the foundation for a broader operations layer.</a:t>
            </a:r>
          </a:p>
        </p:txBody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4C12380-F82E-4F64-9CFC-68AFA98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3E043-3B92-4A50-97D8-F0DC2DC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499C-C899-4EBA-8C6D-05BDFD50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ACEFA-8D90-4B0D-9294-0A61F29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INITIAL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3649-DD00-4F98-B697-5EBA56F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Settlement-to-bank exceptions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FC326-8A8C-4C3D-B669-F95862DF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painful, evidence-heavy task with an observable result: a qualified bank match or an unresolved 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81946-C803-4BB9-9FC8-18A79FE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B799F-7550-437F-8E59-3564A25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EXPANSION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EABB5-7922-48C8-A8E5-02CCEDC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Add providers through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E6B5B-6143-4822-AFAE-2D03C68B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reconciliation logic on a shared financial model as sources and workflows grow.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0186E-D494-4211-9492-665F23D4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COMMERCIAL HYPOTHESIS TO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D130B-D393-4E8F-BE05-D8140F00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Subscription tiers by business size and connected data volume</a:t>
            </a:r>
          </a:p>
        </p:txBody>
      </p:sp>
    </p:spTree>
    <p:extLst>
      <p:ext uri="{BB962C8B-B14F-4D97-AF65-F5344CB8AC3E}">
        <p14:creationId xmlns:p14="http://schemas.microsoft.com/office/powerpoint/2010/main" val="1071839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A3255AF2-35F2-4C7C-8527-5171EE7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96A1BC1-36E7-40F4-889B-FC4F2F43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Reconciliation engine is built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7392E781-0AAE-419B-B9B4-D5EFDDE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M1 data foundations and M2 reconciliation are done. Case, UI and agent milestones remain.</a:t>
            </a:r>
          </a:p>
        </p:txBody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242CCD3B-F6B9-4848-80BE-6F2CFB8A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1EB28-0D39-4F2B-A4B9-67F5440D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3C165-6E7F-40B3-976B-33F750D5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A4601-671B-4024-B3AB-12A3B1E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46B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1BA39-3690-4853-A5ED-9822E010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M1  Data foundations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2E8BA-3513-4DE8-9F41-CA5606A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Canonical records, validated imports, provenance and synthetic fixtures.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CACC7-8304-4947-BFB4-FBB71A8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M2  Reconciliation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F97C5-A839-462E-93F9-35172566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 matching and 10 scenario classifications against the fixture oracle.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6C1E6-35C9-4DE4-8BA4-C78F3AA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190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33545-ED4D-4256-87C9-F30CC113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D9D65-F66E-43A5-9FB8-4F00A4D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9E629-5C66-4DCD-A21E-83F8069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Case state, approvals and audit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D1348-319A-4B8E-88CC-AC59B88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ED74-695D-4EF0-A798-B751E961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Dashboard and exception review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E99ED-6FC2-4A16-BEC5-209271B8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M5–M6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775C8-9636-4056-AEB3-5C2931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workflow, support connector and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AB76C-98BE-4927-889D-EEA0D7B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953CE-0C98-4EE9-8D7B-3DAEBCD8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Runnable end-to-end demo and release checks</a:t>
            </a:r>
          </a:p>
        </p:txBody>
      </p:sp>
    </p:spTree>
    <p:extLst>
      <p:ext uri="{BB962C8B-B14F-4D97-AF65-F5344CB8AC3E}">
        <p14:creationId xmlns:p14="http://schemas.microsoft.com/office/powerpoint/2010/main" val="939454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29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14FBEF26-F0E4-46BA-8012-77D0E17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F2374-ECD4-4886-9106-A5E1E7C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PROPOSED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07EE6-A601-4D9B-A276-EB1C6753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the workflow with design partners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D0260-034B-44B2-8207-E02F0271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Work with merchant finance and operations teams to map available exports, measure today’s reconciliation effort and test the evidence-backed case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6D849-0402-480D-94B6-B094EB4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B14A-5F82-4831-ADB2-60C29023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success measures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23A99-8C5E-477A-B98B-E2ABDFB6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Reconciliation accuracy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Time to detect and resolve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Evidence completeness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False closure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AC5C3-746F-439A-9DCD-0989BF0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Begin with synthetic data. Add real data only through authorized connections and consented pilots.</a:t>
            </a:r>
          </a:p>
        </p:txBody>
      </p:sp>
      <p:sp>
        <p:nvSpPr>
          <p:cNvPr id="9" name="close-lower-band">
            <a:extLst xmlns:a="http://schemas.openxmlformats.org/drawingml/2006/main">
              <a:ext uri="{FF2B5EF4-FFF2-40B4-BE49-F238E27FC236}">
                <a16:creationId xmlns:a16="http://schemas.microsoft.com/office/drawing/2014/main" id="{C2D9DCDE-E689-4381-9E5F-8E536ABA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6EB0C-B216-4BE7-AD54-F829265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E906D-75C0-4704-90E6-C757BFA2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808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2026-10-31T10:18:36.9080000Z</dcterms:created>
  <dcterms:modified xsi:type="dcterms:W3CDTF">2026-10-31T10:18:36.9080000Z</dcterms:modified>
</coreProperties>
</file>