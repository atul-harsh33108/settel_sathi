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pitch based on the repository README, SettleSaathi PRD v1.0, and Release 0 delivery tracker. The visual palette takes inspiration from Paytm blue and cyan. This is an independent project concept and does not claim Paytm affiliation or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SettleSaathi PRD v1.0, sections 1 and 4. The problem statement summarizes the repository product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SettleSaathi PRD v1.0 and docs/MVP_SCOPE.md. The product description reflects the intended workflow, not a claim that all parts are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docs/DEMO_SCENARIO.md and fixtures/synthetic/v1/expected_results.json, scenario SCN-02. All names, records, amounts and outcomes in this scenario are synthetic. “₹0 matched” describes only the imported statement period and does not mean the funds are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docs/DEMO_SCENARIO.md and docs/AGENTIC_ARCHITECTURE.md. The stages describe the planned end-to-end product flow; case monitoring and verification are not yet implemented in the current MVP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README.md, SettleSaathi PRD v1.0 sections 1 and 2, and docs/SECURITY_GOVERNANCE.md. The controls are product requirements and do not imply production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SettleSaathi PRD v1.0 sections 1, 2 and 3. The pricing approach is a commercial hypothesis introduced for validation; no pricing or market-size data appears in the project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docs/implementation/TRACKER.md, Release 0 Delivery Tracker, current status as of 31 October 2026. “Done” and “Not started” reproduce tracked milestone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ask added for pitch context, not stated as an existing project commitment. Success measures come from the project PRD. The project currently uses synthetic data and mock connectors; real provider or bank integrations are out of scope for the current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39093-CEA0-475F-B82B-347DA17C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8D34C69-2E3D-45C0-B8CF-66CCC9EC7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304B71A-E6A0-415A-A9A5-11950074F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DA3C8CB-DD0E-4E23-B9BD-253D1B3F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1C551D-1BD3-44B7-BD2D-3BC9AD75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F98AD0A-6A3E-4535-9700-93F461261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160046D-97E9-4022-987A-1C870BA77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1A9F4C0-FB60-4E46-AF0A-F3A59D091B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0E52E3-A38A-46D3-9272-CCD91678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69EFB5B-AD91-45D0-96DE-83CE71834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accent">
            <a:extLst>
              <a:ext uri="{FF2B5EF4-FFF2-40B4-BE49-F238E27FC236}">
                <a16:creationId xmlns:a16="http://schemas.microsoft.com/office/drawing/2014/main" id="{F105F0A8-8261-4962-B5C2-87551951D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cover-lower-band">
            <a:extLst>
              <a:ext uri="{FF2B5EF4-FFF2-40B4-BE49-F238E27FC236}">
                <a16:creationId xmlns:a16="http://schemas.microsoft.com/office/drawing/2014/main" id="{7694C10E-D281-4E11-A6C7-89572F7E49E0}"/>
              </a:ext>
            </a:extLst>
          </p:cNvPr>
          <p:cNvSpPr>
            <a:spLocks noGrp="1"/>
          </p:cNvSpPr>
          <p:nvPr/>
        </p:nvSpPr>
        <p:spPr>
          <a:xfrm>
            <a:off x="0" y="5562600"/>
            <a:ext cx="12192000" cy="1295400"/>
          </a:xfrm>
          <a:prstGeom prst="rect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FB0420-B9D8-4453-9A85-5B67DA6AAC47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SETTLEMENT OPERATIONS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244BC5AA-98AD-4C01-A1D6-1919186E4C06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9239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51"/>
          </a:bodyPr>
          <a:lstStyle>
            <a:def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SettleSaathi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D6177E9B-F5D6-473A-951C-387BC8B40D19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847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Settlement issues, owned through verified resolution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835CC4-3265-4794-B451-0F204270C19C}"/>
              </a:ext>
            </a:extLst>
          </p:cNvPr>
          <p:cNvSpPr>
            <a:spLocks noGrp="1"/>
          </p:cNvSpPr>
          <p:nvPr/>
        </p:nvSpPr>
        <p:spPr>
          <a:xfrm>
            <a:off x="800100" y="3552825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D9EF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FF8"/>
                </a:solidFill>
                <a:latin typeface="Arial"/>
                <a:ea typeface="Arial"/>
                <a:cs typeface="Arial"/>
              </a:rPr>
              <a:t>An AI-powered merchant operations 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02C69-DCCF-4D2E-A593-7229EA498000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1619250" cy="47625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443E53-32CC-492B-A67C-9A96A5D74321}"/>
              </a:ext>
            </a:extLst>
          </p:cNvPr>
          <p:cNvSpPr>
            <a:spLocks noGrp="1"/>
          </p:cNvSpPr>
          <p:nvPr/>
        </p:nvSpPr>
        <p:spPr>
          <a:xfrm>
            <a:off x="781050" y="59817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Paytm-inspired blue palette. Independent project concept, not affiliated with Paytm.</a:t>
            </a:r>
          </a:p>
        </p:txBody>
      </p:sp>
    </p:spTree>
    <p:extLst>
      <p:ext uri="{BB962C8B-B14F-4D97-AF65-F5344CB8AC3E}">
        <p14:creationId xmlns:p14="http://schemas.microsoft.com/office/powerpoint/2010/main" val="97544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op-accent-2">
            <a:extLst>
              <a:ext uri="{FF2B5EF4-FFF2-40B4-BE49-F238E27FC236}">
                <a16:creationId xmlns:a16="http://schemas.microsoft.com/office/drawing/2014/main" id="{2446055F-2728-45DC-BED2-C51437855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46886196-B570-4A77-9116-687C126797FD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Settlement status can differ across systems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8FBF11CB-A5A3-459D-896C-5075EFCFAD11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A simple question can require work across separate financial records.</a:t>
            </a:r>
          </a:p>
        </p:txBody>
      </p:sp>
      <p:sp>
        <p:nvSpPr>
          <p:cNvPr id="4" name="footer-rule-2">
            <a:extLst>
              <a:ext uri="{FF2B5EF4-FFF2-40B4-BE49-F238E27FC236}">
                <a16:creationId xmlns:a16="http://schemas.microsoft.com/office/drawing/2014/main" id="{179B2070-1A76-4C84-B903-1AE03991F437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9EDFE-A5F1-487F-91D9-659F08E07478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FA95B-4835-4264-A314-41F6AE10CD55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53876-6352-4F4B-BDDD-2AD07BCD45DE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THE MERCHANT QUESTION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CAEA29-DEEE-4AFF-8FF9-FFB537E8B377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1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“Where is my money?”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DC9D7E-AA6B-46BD-ADD3-2CB6D053CC31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4572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Payment activity, provider settlement files, bank statements and support updates often sit in different places.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EE822C-D535-439F-853A-EA0A93FE1BBB}"/>
              </a:ext>
            </a:extLst>
          </p:cNvPr>
          <p:cNvSpPr>
            <a:spLocks noGrp="1"/>
          </p:cNvSpPr>
          <p:nvPr/>
        </p:nvSpPr>
        <p:spPr>
          <a:xfrm>
            <a:off x="6286500" y="1981200"/>
            <a:ext cx="19050" cy="3524250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1B8050-BE0A-4598-B1D8-AA91FFDBF60B}"/>
              </a:ext>
            </a:extLst>
          </p:cNvPr>
          <p:cNvSpPr>
            <a:spLocks noGrp="1"/>
          </p:cNvSpPr>
          <p:nvPr/>
        </p:nvSpPr>
        <p:spPr>
          <a:xfrm>
            <a:off x="6724650" y="1952625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THE RECONCILIATION GAP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0E011-7235-4373-9F21-5EC55FF840DD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Provider says “processed”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8073C-AB17-421F-8622-5428E566AB0D}"/>
              </a:ext>
            </a:extLst>
          </p:cNvPr>
          <p:cNvSpPr>
            <a:spLocks noGrp="1"/>
          </p:cNvSpPr>
          <p:nvPr/>
        </p:nvSpPr>
        <p:spPr>
          <a:xfrm>
            <a:off x="6724650" y="2952750"/>
            <a:ext cx="3810000" cy="19050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C4A313-753A-47AA-B7F7-F92D81FDF033}"/>
              </a:ext>
            </a:extLst>
          </p:cNvPr>
          <p:cNvSpPr>
            <a:spLocks noGrp="1"/>
          </p:cNvSpPr>
          <p:nvPr/>
        </p:nvSpPr>
        <p:spPr>
          <a:xfrm>
            <a:off x="6724650" y="32004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10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Bank record has no match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34D3E3-EAFD-48F5-9269-D694B9CBA5FA}"/>
              </a:ext>
            </a:extLst>
          </p:cNvPr>
          <p:cNvSpPr>
            <a:spLocks noGrp="1"/>
          </p:cNvSpPr>
          <p:nvPr/>
        </p:nvSpPr>
        <p:spPr>
          <a:xfrm>
            <a:off x="6724650" y="3771900"/>
            <a:ext cx="3810000" cy="19050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306A4-89EA-4D18-875E-96B0C8E56FD0}"/>
              </a:ext>
            </a:extLst>
          </p:cNvPr>
          <p:cNvSpPr>
            <a:spLocks noGrp="1"/>
          </p:cNvSpPr>
          <p:nvPr/>
        </p:nvSpPr>
        <p:spPr>
          <a:xfrm>
            <a:off x="6724650" y="4029075"/>
            <a:ext cx="428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0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Teams gather evidence, compare references, and follow up manually.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B1D5B3-EC4D-427B-96BB-69BF68410C76}"/>
              </a:ext>
            </a:extLst>
          </p:cNvPr>
          <p:cNvSpPr>
            <a:spLocks noGrp="1"/>
          </p:cNvSpPr>
          <p:nvPr/>
        </p:nvSpPr>
        <p:spPr>
          <a:xfrm>
            <a:off x="6724650" y="5048250"/>
            <a:ext cx="4229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Provider status alone does not prove a bank credit.</a:t>
            </a:r>
          </a:p>
        </p:txBody>
      </p:sp>
    </p:spTree>
    <p:extLst>
      <p:ext uri="{BB962C8B-B14F-4D97-AF65-F5344CB8AC3E}">
        <p14:creationId xmlns:p14="http://schemas.microsoft.com/office/powerpoint/2010/main" val="1995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accent-3">
            <a:extLst>
              <a:ext uri="{FF2B5EF4-FFF2-40B4-BE49-F238E27FC236}">
                <a16:creationId xmlns:a16="http://schemas.microsoft.com/office/drawing/2014/main" id="{2D669C39-5E7F-4917-91F8-1EDA041FF4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C678887-2A5D-44F5-869E-930B5876F3FA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45"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One workspace takes an exception from records to resolution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A85C1957-3E6F-4811-BA40-32C75E83E3EC}"/>
              </a:ext>
            </a:extLst>
          </p:cNvPr>
          <p:cNvSpPr>
            <a:spLocks noGrp="1"/>
          </p:cNvSpPr>
          <p:nvPr/>
        </p:nvSpPr>
        <p:spPr>
          <a:xfrm>
            <a:off x="742950" y="1352549"/>
            <a:ext cx="10477500" cy="4000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 dirty="0" err="1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</a:t>
            </a:r>
            <a:r>
              <a:rPr sz="1650" b="0" dirty="0">
                <a:solidFill>
                  <a:srgbClr val="516579"/>
                </a:solidFill>
                <a:latin typeface="Arial"/>
                <a:ea typeface="Arial"/>
                <a:cs typeface="Arial"/>
              </a:rPr>
              <a:t> connects evidence, reconciliation and case follow-through.</a:t>
            </a:r>
          </a:p>
        </p:txBody>
      </p:sp>
      <p:sp>
        <p:nvSpPr>
          <p:cNvPr id="4" name="footer-rule-3">
            <a:extLst>
              <a:ext uri="{FF2B5EF4-FFF2-40B4-BE49-F238E27FC236}">
                <a16:creationId xmlns:a16="http://schemas.microsoft.com/office/drawing/2014/main" id="{33ADFB97-D51E-43CA-8598-BE9A08772EFD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36072-741A-45B3-A3F8-F7A98439DDB1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E8CAE-D387-43A4-BE20-FAF4DC827F03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answer-rule-0">
            <a:extLst>
              <a:ext uri="{FF2B5EF4-FFF2-40B4-BE49-F238E27FC236}">
                <a16:creationId xmlns:a16="http://schemas.microsoft.com/office/drawing/2014/main" id="{64C61DE3-0D0E-46A9-A7D7-955454AA2845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7625" cy="2667000"/>
          </a:xfrm>
          <a:prstGeom prst="rect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4E0A9-F3A9-4ACF-A8B0-79DAA36EAD57}"/>
              </a:ext>
            </a:extLst>
          </p:cNvPr>
          <p:cNvSpPr>
            <a:spLocks noGrp="1"/>
          </p:cNvSpPr>
          <p:nvPr/>
        </p:nvSpPr>
        <p:spPr>
          <a:xfrm>
            <a:off x="1028700" y="21526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FBC88B-73DC-48AB-B403-93D2CCB38743}"/>
              </a:ext>
            </a:extLst>
          </p:cNvPr>
          <p:cNvSpPr>
            <a:spLocks noGrp="1"/>
          </p:cNvSpPr>
          <p:nvPr/>
        </p:nvSpPr>
        <p:spPr>
          <a:xfrm>
            <a:off x="1028700" y="25812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Match the records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E2A6C-4C40-4C1E-9F74-6F4131E9338F}"/>
              </a:ext>
            </a:extLst>
          </p:cNvPr>
          <p:cNvSpPr>
            <a:spLocks noGrp="1"/>
          </p:cNvSpPr>
          <p:nvPr/>
        </p:nvSpPr>
        <p:spPr>
          <a:xfrm>
            <a:off x="1028700" y="3248025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Connect transactions to settlement entries, then compare payouts with bank credits.</a:t>
            </a:r>
          </a:p>
        </p:txBody>
      </p:sp>
      <p:sp>
        <p:nvSpPr>
          <p:cNvPr id="11" name="answer-rule-1">
            <a:extLst>
              <a:ext uri="{FF2B5EF4-FFF2-40B4-BE49-F238E27FC236}">
                <a16:creationId xmlns:a16="http://schemas.microsoft.com/office/drawing/2014/main" id="{73FE2B5B-26D9-49BA-BBD7-6D6FDEC009B1}"/>
              </a:ext>
            </a:extLst>
          </p:cNvPr>
          <p:cNvSpPr>
            <a:spLocks noGrp="1"/>
          </p:cNvSpPr>
          <p:nvPr/>
        </p:nvSpPr>
        <p:spPr>
          <a:xfrm>
            <a:off x="4533900" y="2114550"/>
            <a:ext cx="47625" cy="26670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669983-A2B4-4B8D-BC5E-206A48B534AF}"/>
              </a:ext>
            </a:extLst>
          </p:cNvPr>
          <p:cNvSpPr>
            <a:spLocks noGrp="1"/>
          </p:cNvSpPr>
          <p:nvPr/>
        </p:nvSpPr>
        <p:spPr>
          <a:xfrm>
            <a:off x="4781550" y="21526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DC7A10-525F-4344-AC68-97E2FABA6D56}"/>
              </a:ext>
            </a:extLst>
          </p:cNvPr>
          <p:cNvSpPr>
            <a:spLocks noGrp="1"/>
          </p:cNvSpPr>
          <p:nvPr/>
        </p:nvSpPr>
        <p:spPr>
          <a:xfrm>
            <a:off x="4781550" y="25812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Explain the gap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79DBE1-ADB0-44CA-AE1E-988DE6336530}"/>
              </a:ext>
            </a:extLst>
          </p:cNvPr>
          <p:cNvSpPr>
            <a:spLocks noGrp="1"/>
          </p:cNvSpPr>
          <p:nvPr/>
        </p:nvSpPr>
        <p:spPr>
          <a:xfrm>
            <a:off x="4781550" y="3248025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Show the IDs, references and statement period behind each exception.</a:t>
            </a:r>
          </a:p>
        </p:txBody>
      </p:sp>
      <p:sp>
        <p:nvSpPr>
          <p:cNvPr id="15" name="answer-rule-2">
            <a:extLst>
              <a:ext uri="{FF2B5EF4-FFF2-40B4-BE49-F238E27FC236}">
                <a16:creationId xmlns:a16="http://schemas.microsoft.com/office/drawing/2014/main" id="{500D7855-9F58-4273-8490-5D797A2669A6}"/>
              </a:ext>
            </a:extLst>
          </p:cNvPr>
          <p:cNvSpPr>
            <a:spLocks noGrp="1"/>
          </p:cNvSpPr>
          <p:nvPr/>
        </p:nvSpPr>
        <p:spPr>
          <a:xfrm>
            <a:off x="8286750" y="2114550"/>
            <a:ext cx="47625" cy="2667000"/>
          </a:xfrm>
          <a:prstGeom prst="rect">
            <a:avLst/>
          </a:prstGeom>
          <a:solidFill>
            <a:srgbClr val="00297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9D41EF-5CE9-4713-953C-19722D1A0032}"/>
              </a:ext>
            </a:extLst>
          </p:cNvPr>
          <p:cNvSpPr>
            <a:spLocks noGrp="1"/>
          </p:cNvSpPr>
          <p:nvPr/>
        </p:nvSpPr>
        <p:spPr>
          <a:xfrm>
            <a:off x="8534400" y="21526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D46FCA-5D72-42ED-9FB7-4D36DD3B1CF4}"/>
              </a:ext>
            </a:extLst>
          </p:cNvPr>
          <p:cNvSpPr>
            <a:spLocks noGrp="1"/>
          </p:cNvSpPr>
          <p:nvPr/>
        </p:nvSpPr>
        <p:spPr>
          <a:xfrm>
            <a:off x="8534400" y="25812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Carry the case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7262BE-9661-4793-AC63-A62F8CDCA222}"/>
              </a:ext>
            </a:extLst>
          </p:cNvPr>
          <p:cNvSpPr>
            <a:spLocks noGrp="1"/>
          </p:cNvSpPr>
          <p:nvPr/>
        </p:nvSpPr>
        <p:spPr>
          <a:xfrm>
            <a:off x="8534400" y="3248025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Prepare approved follow-up, track responses and verify the final outcome.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BE23B2-7EB8-41BF-A278-42C5F79EE65F}"/>
              </a:ext>
            </a:extLst>
          </p:cNvPr>
          <p:cNvSpPr>
            <a:spLocks noGrp="1"/>
          </p:cNvSpPr>
          <p:nvPr/>
        </p:nvSpPr>
        <p:spPr>
          <a:xfrm>
            <a:off x="781050" y="53054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 merchant operations layer across payment providers and supported bank data sources</a:t>
            </a:r>
          </a:p>
        </p:txBody>
      </p:sp>
    </p:spTree>
    <p:extLst>
      <p:ext uri="{BB962C8B-B14F-4D97-AF65-F5344CB8AC3E}">
        <p14:creationId xmlns:p14="http://schemas.microsoft.com/office/powerpoint/2010/main" val="771993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accent-4">
            <a:extLst>
              <a:ext uri="{FF2B5EF4-FFF2-40B4-BE49-F238E27FC236}">
                <a16:creationId xmlns:a16="http://schemas.microsoft.com/office/drawing/2014/main" id="{DBA9D189-3446-43F5-9C07-B0E46AB9C4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BFBE802B-D331-4F62-9E8C-E1D95C96BC42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787"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Synthetic demo: ₹18,450 reported settled, ₹0 matched in bank data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2ECAF59F-1306-4216-88B8-20183F4841DB}"/>
              </a:ext>
            </a:extLst>
          </p:cNvPr>
          <p:cNvSpPr>
            <a:spLocks noGrp="1"/>
          </p:cNvSpPr>
          <p:nvPr/>
        </p:nvSpPr>
        <p:spPr>
          <a:xfrm>
            <a:off x="742950" y="127635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16579"/>
                </a:solidFill>
                <a:latin typeface="Arial"/>
                <a:ea typeface="Arial"/>
                <a:cs typeface="Arial"/>
              </a:rPr>
              <a:t>The product reports what the available evidence supports.</a:t>
            </a:r>
          </a:p>
        </p:txBody>
      </p:sp>
      <p:sp>
        <p:nvSpPr>
          <p:cNvPr id="4" name="footer-rule-4">
            <a:extLst>
              <a:ext uri="{FF2B5EF4-FFF2-40B4-BE49-F238E27FC236}">
                <a16:creationId xmlns:a16="http://schemas.microsoft.com/office/drawing/2014/main" id="{3069BC32-6B8B-4AF4-8EBE-8A561709C612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7A68E-278F-4404-A430-5C51BC78DA3A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ECAAE-5AF6-4885-B354-5594DA316A33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A6E43-041C-4A5E-AC43-732E5CDB8630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81719B-8489-4DAA-91DC-13202F3B2399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3286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₹18,450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4C091C-C6BA-4A71-9E41-523ADFAFC80B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2571750" cy="38100"/>
          </a:xfrm>
          <a:prstGeom prst="rect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4D9AC-3527-47B7-9F58-711670C3740A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Completed transactions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CF1DC0-151F-4CB4-AAB4-E8E341C73FB1}"/>
              </a:ext>
            </a:extLst>
          </p:cNvPr>
          <p:cNvSpPr>
            <a:spLocks noGrp="1"/>
          </p:cNvSpPr>
          <p:nvPr/>
        </p:nvSpPr>
        <p:spPr>
          <a:xfrm>
            <a:off x="3943350" y="2933700"/>
            <a:ext cx="342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7F7F2-97CA-49ED-9120-C3009A42E309}"/>
              </a:ext>
            </a:extLst>
          </p:cNvPr>
          <p:cNvSpPr>
            <a:spLocks noGrp="1"/>
          </p:cNvSpPr>
          <p:nvPr/>
        </p:nvSpPr>
        <p:spPr>
          <a:xfrm>
            <a:off x="4533900" y="2171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PROVIDER REPORTED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6A25F-6896-4798-961D-824DEF46DB4E}"/>
              </a:ext>
            </a:extLst>
          </p:cNvPr>
          <p:cNvSpPr>
            <a:spLocks noGrp="1"/>
          </p:cNvSpPr>
          <p:nvPr/>
        </p:nvSpPr>
        <p:spPr>
          <a:xfrm>
            <a:off x="4533900" y="2647950"/>
            <a:ext cx="3286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₹18,450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720FB-3035-47F5-AD8F-F6A62C3034F7}"/>
              </a:ext>
            </a:extLst>
          </p:cNvPr>
          <p:cNvSpPr>
            <a:spLocks noGrp="1"/>
          </p:cNvSpPr>
          <p:nvPr/>
        </p:nvSpPr>
        <p:spPr>
          <a:xfrm>
            <a:off x="4533900" y="3581400"/>
            <a:ext cx="2571750" cy="381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C2BAB6-BC44-4CF9-A00A-2398EB3AE02F}"/>
              </a:ext>
            </a:extLst>
          </p:cNvPr>
          <p:cNvSpPr>
            <a:spLocks noGrp="1"/>
          </p:cNvSpPr>
          <p:nvPr/>
        </p:nvSpPr>
        <p:spPr>
          <a:xfrm>
            <a:off x="4533900" y="38481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Payout reference present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1CE889-A309-4D90-85C3-AE066975EEA2}"/>
              </a:ext>
            </a:extLst>
          </p:cNvPr>
          <p:cNvSpPr>
            <a:spLocks noGrp="1"/>
          </p:cNvSpPr>
          <p:nvPr/>
        </p:nvSpPr>
        <p:spPr>
          <a:xfrm>
            <a:off x="7677150" y="2933700"/>
            <a:ext cx="342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2850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D0E1C-05CF-4ABE-B271-482FFF3ABB93}"/>
              </a:ext>
            </a:extLst>
          </p:cNvPr>
          <p:cNvSpPr>
            <a:spLocks noGrp="1"/>
          </p:cNvSpPr>
          <p:nvPr/>
        </p:nvSpPr>
        <p:spPr>
          <a:xfrm>
            <a:off x="8267700" y="2171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BANK MATCH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F6D21-EEFE-4ECC-9678-806FC4660EBF}"/>
              </a:ext>
            </a:extLst>
          </p:cNvPr>
          <p:cNvSpPr>
            <a:spLocks noGrp="1"/>
          </p:cNvSpPr>
          <p:nvPr/>
        </p:nvSpPr>
        <p:spPr>
          <a:xfrm>
            <a:off x="8267700" y="2647950"/>
            <a:ext cx="3286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7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₹0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9AFEA1-1121-4B78-A73B-E30AAD4AAC32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571750" cy="38100"/>
          </a:xfrm>
          <a:prstGeom prst="rect">
            <a:avLst/>
          </a:prstGeom>
          <a:solidFill>
            <a:srgbClr val="00297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05B239-3CF6-4380-8BE3-9BF02FBA723F}"/>
              </a:ext>
            </a:extLst>
          </p:cNvPr>
          <p:cNvSpPr>
            <a:spLocks noGrp="1"/>
          </p:cNvSpPr>
          <p:nvPr/>
        </p:nvSpPr>
        <p:spPr>
          <a:xfrm>
            <a:off x="8267700" y="3848100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No qualified credit in import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2F393E-7BA0-4048-9461-FFE150EFD623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10620375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58531-5CB2-488F-A51C-3E3E1F586DF1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UNMATCHED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D9BB7E-D772-4BE8-8EA9-A8AAED789245}"/>
              </a:ext>
            </a:extLst>
          </p:cNvPr>
          <p:cNvSpPr>
            <a:spLocks noGrp="1"/>
          </p:cNvSpPr>
          <p:nvPr/>
        </p:nvSpPr>
        <p:spPr>
          <a:xfrm>
            <a:off x="2524125" y="4953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payout has not been matched in the available bank data. The evidence does not establish that funds are lost.</a:t>
            </a:r>
          </a:p>
        </p:txBody>
      </p:sp>
    </p:spTree>
    <p:extLst>
      <p:ext uri="{BB962C8B-B14F-4D97-AF65-F5344CB8AC3E}">
        <p14:creationId xmlns:p14="http://schemas.microsoft.com/office/powerpoint/2010/main" val="77847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op-accent-5">
            <a:extLst>
              <a:ext uri="{FF2B5EF4-FFF2-40B4-BE49-F238E27FC236}">
                <a16:creationId xmlns:a16="http://schemas.microsoft.com/office/drawing/2014/main" id="{AF1A0AB1-91A7-4EA7-92F2-0E2FBA8B4C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AE3E29D9-5FFA-43D5-ACDD-E1D43256C598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566"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 controlled workflow moves from source data to verified outcome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6B8730D1-F21B-46EC-9E57-A50F292D0EA8}"/>
              </a:ext>
            </a:extLst>
          </p:cNvPr>
          <p:cNvSpPr>
            <a:spLocks noGrp="1"/>
          </p:cNvSpPr>
          <p:nvPr/>
        </p:nvSpPr>
        <p:spPr>
          <a:xfrm>
            <a:off x="742950" y="1381124"/>
            <a:ext cx="104775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16579"/>
                </a:solidFill>
                <a:latin typeface="Arial"/>
                <a:ea typeface="Arial"/>
                <a:cs typeface="Arial"/>
              </a:rPr>
              <a:t>Each handoff keeps the source evidence attached to the case.</a:t>
            </a:r>
          </a:p>
        </p:txBody>
      </p:sp>
      <p:sp>
        <p:nvSpPr>
          <p:cNvPr id="4" name="footer-rule-5">
            <a:extLst>
              <a:ext uri="{FF2B5EF4-FFF2-40B4-BE49-F238E27FC236}">
                <a16:creationId xmlns:a16="http://schemas.microsoft.com/office/drawing/2014/main" id="{BDA39B91-595D-4B6D-BA0E-8EC061AA63DF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7C2BE-13BF-4AD3-B0BA-082009841C4A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FF1991-A37C-4AC4-9316-78B4486ED61D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B87F6-D5AC-4236-969D-88ABEE6367B2}"/>
              </a:ext>
            </a:extLst>
          </p:cNvPr>
          <p:cNvSpPr>
            <a:spLocks noGrp="1"/>
          </p:cNvSpPr>
          <p:nvPr/>
        </p:nvSpPr>
        <p:spPr>
          <a:xfrm>
            <a:off x="1162050" y="2819400"/>
            <a:ext cx="9867900" cy="38100"/>
          </a:xfrm>
          <a:prstGeom prst="rect">
            <a:avLst/>
          </a:prstGeom>
          <a:solidFill>
            <a:srgbClr val="D7EEF7"/>
          </a:solidFill>
          <a:ln w="0">
            <a:noFill/>
            <a:prstDash val="solid"/>
          </a:ln>
        </p:spPr>
      </p:sp>
      <p:sp>
        <p:nvSpPr>
          <p:cNvPr id="8" name="stage-node-0">
            <a:extLst>
              <a:ext uri="{FF2B5EF4-FFF2-40B4-BE49-F238E27FC236}">
                <a16:creationId xmlns:a16="http://schemas.microsoft.com/office/drawing/2014/main" id="{9F8ACFA7-2622-483F-B1A1-66040BFB5496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438150" cy="438150"/>
          </a:xfrm>
          <a:prstGeom prst="ellipse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4D7872-F6CE-461D-9D4E-D8A609E7E413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771595-9DC5-480F-9D24-7C0A479BE050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B5FDDB-9999-4949-A245-CB80BDE66367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1752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Transactions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Settlement file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Bank statement</a:t>
            </a:r>
          </a:p>
        </p:txBody>
      </p:sp>
      <p:sp>
        <p:nvSpPr>
          <p:cNvPr id="12" name="stage-node-1">
            <a:extLst>
              <a:ext uri="{FF2B5EF4-FFF2-40B4-BE49-F238E27FC236}">
                <a16:creationId xmlns:a16="http://schemas.microsoft.com/office/drawing/2014/main" id="{B7D55A88-E299-4ECD-B94A-C33204926061}"/>
              </a:ext>
            </a:extLst>
          </p:cNvPr>
          <p:cNvSpPr>
            <a:spLocks noGrp="1"/>
          </p:cNvSpPr>
          <p:nvPr/>
        </p:nvSpPr>
        <p:spPr>
          <a:xfrm>
            <a:off x="3124200" y="2609850"/>
            <a:ext cx="438150" cy="438150"/>
          </a:xfrm>
          <a:prstGeom prst="ellipse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2E2DF8-FDA6-4AA9-8F75-17F103831AA9}"/>
              </a:ext>
            </a:extLst>
          </p:cNvPr>
          <p:cNvSpPr>
            <a:spLocks noGrp="1"/>
          </p:cNvSpPr>
          <p:nvPr/>
        </p:nvSpPr>
        <p:spPr>
          <a:xfrm>
            <a:off x="3124200" y="2724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B2C96-A48D-4FBA-8D03-5AF11CC98B06}"/>
              </a:ext>
            </a:extLst>
          </p:cNvPr>
          <p:cNvSpPr>
            <a:spLocks noGrp="1"/>
          </p:cNvSpPr>
          <p:nvPr/>
        </p:nvSpPr>
        <p:spPr>
          <a:xfrm>
            <a:off x="2914650" y="32766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7F8DEA-164E-4372-8797-C2C21933667E}"/>
              </a:ext>
            </a:extLst>
          </p:cNvPr>
          <p:cNvSpPr>
            <a:spLocks noGrp="1"/>
          </p:cNvSpPr>
          <p:nvPr/>
        </p:nvSpPr>
        <p:spPr>
          <a:xfrm>
            <a:off x="2914650" y="3762375"/>
            <a:ext cx="1752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reference and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amount rules</a:t>
            </a:r>
          </a:p>
        </p:txBody>
      </p:sp>
      <p:sp>
        <p:nvSpPr>
          <p:cNvPr id="16" name="stage-node-2">
            <a:extLst>
              <a:ext uri="{FF2B5EF4-FFF2-40B4-BE49-F238E27FC236}">
                <a16:creationId xmlns:a16="http://schemas.microsoft.com/office/drawing/2014/main" id="{BF121547-4596-4060-9859-AE17295A3112}"/>
              </a:ext>
            </a:extLst>
          </p:cNvPr>
          <p:cNvSpPr>
            <a:spLocks noGrp="1"/>
          </p:cNvSpPr>
          <p:nvPr/>
        </p:nvSpPr>
        <p:spPr>
          <a:xfrm>
            <a:off x="5257800" y="2609850"/>
            <a:ext cx="438150" cy="438150"/>
          </a:xfrm>
          <a:prstGeom prst="ellipse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1E38DC-06E1-48F9-975D-E3834F788BD3}"/>
              </a:ext>
            </a:extLst>
          </p:cNvPr>
          <p:cNvSpPr>
            <a:spLocks noGrp="1"/>
          </p:cNvSpPr>
          <p:nvPr/>
        </p:nvSpPr>
        <p:spPr>
          <a:xfrm>
            <a:off x="5257800" y="2724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797A5D-555A-4F3A-AE2D-E5F0CF49A72E}"/>
              </a:ext>
            </a:extLst>
          </p:cNvPr>
          <p:cNvSpPr>
            <a:spLocks noGrp="1"/>
          </p:cNvSpPr>
          <p:nvPr/>
        </p:nvSpPr>
        <p:spPr>
          <a:xfrm>
            <a:off x="5048250" y="32766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Flag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8E7A0-43D6-4481-B91D-66AB781AB257}"/>
              </a:ext>
            </a:extLst>
          </p:cNvPr>
          <p:cNvSpPr>
            <a:spLocks noGrp="1"/>
          </p:cNvSpPr>
          <p:nvPr/>
        </p:nvSpPr>
        <p:spPr>
          <a:xfrm>
            <a:off x="5048250" y="3762375"/>
            <a:ext cx="1752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Unmatched payout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with evidence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20" name="stage-node-3">
            <a:extLst>
              <a:ext uri="{FF2B5EF4-FFF2-40B4-BE49-F238E27FC236}">
                <a16:creationId xmlns:a16="http://schemas.microsoft.com/office/drawing/2014/main" id="{56E71D1B-B5BD-40DA-AE08-EDA10E8BF12D}"/>
              </a:ext>
            </a:extLst>
          </p:cNvPr>
          <p:cNvSpPr>
            <a:spLocks noGrp="1"/>
          </p:cNvSpPr>
          <p:nvPr/>
        </p:nvSpPr>
        <p:spPr>
          <a:xfrm>
            <a:off x="7391400" y="2609850"/>
            <a:ext cx="438150" cy="438150"/>
          </a:xfrm>
          <a:prstGeom prst="ellipse">
            <a:avLst/>
          </a:prstGeom>
          <a:solidFill>
            <a:srgbClr val="002970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9FB7A9-1EC2-4338-87F1-2522F303A564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D7AAF8-D5F5-4EB4-82E9-6D027514A85B}"/>
              </a:ext>
            </a:extLst>
          </p:cNvPr>
          <p:cNvSpPr>
            <a:spLocks noGrp="1"/>
          </p:cNvSpPr>
          <p:nvPr/>
        </p:nvSpPr>
        <p:spPr>
          <a:xfrm>
            <a:off x="7181850" y="32766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C8D125-EDB2-4051-ABAB-E09BAE7C1273}"/>
              </a:ext>
            </a:extLst>
          </p:cNvPr>
          <p:cNvSpPr>
            <a:spLocks noGrp="1"/>
          </p:cNvSpPr>
          <p:nvPr/>
        </p:nvSpPr>
        <p:spPr>
          <a:xfrm>
            <a:off x="7181850" y="3762375"/>
            <a:ext cx="1752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Review case draft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external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69BCE7-E8B9-42A6-835C-BEE864A7EDF4}"/>
              </a:ext>
            </a:extLst>
          </p:cNvPr>
          <p:cNvSpPr>
            <a:spLocks noGrp="1"/>
          </p:cNvSpPr>
          <p:nvPr/>
        </p:nvSpPr>
        <p:spPr>
          <a:xfrm>
            <a:off x="7181850" y="50482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00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Human approval gate</a:t>
            </a:r>
          </a:p>
        </p:txBody>
      </p:sp>
      <p:sp>
        <p:nvSpPr>
          <p:cNvPr id="25" name="stage-node-4">
            <a:extLst>
              <a:ext uri="{FF2B5EF4-FFF2-40B4-BE49-F238E27FC236}">
                <a16:creationId xmlns:a16="http://schemas.microsoft.com/office/drawing/2014/main" id="{DDAE0021-6FBE-4CF4-98F2-774AF7A0D917}"/>
              </a:ext>
            </a:extLst>
          </p:cNvPr>
          <p:cNvSpPr>
            <a:spLocks noGrp="1"/>
          </p:cNvSpPr>
          <p:nvPr/>
        </p:nvSpPr>
        <p:spPr>
          <a:xfrm>
            <a:off x="9525000" y="2609850"/>
            <a:ext cx="438150" cy="438150"/>
          </a:xfrm>
          <a:prstGeom prst="ellipse">
            <a:avLst/>
          </a:prstGeom>
          <a:solidFill>
            <a:srgbClr val="00297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FC9179-DB81-41F8-A59C-99A8C67309D0}"/>
              </a:ext>
            </a:extLst>
          </p:cNvPr>
          <p:cNvSpPr>
            <a:spLocks noGrp="1"/>
          </p:cNvSpPr>
          <p:nvPr/>
        </p:nvSpPr>
        <p:spPr>
          <a:xfrm>
            <a:off x="9525000" y="2724150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CE4D0-037D-4F79-BF68-3CF285E7A6A0}"/>
              </a:ext>
            </a:extLst>
          </p:cNvPr>
          <p:cNvSpPr>
            <a:spLocks noGrp="1"/>
          </p:cNvSpPr>
          <p:nvPr/>
        </p:nvSpPr>
        <p:spPr>
          <a:xfrm>
            <a:off x="9315450" y="32766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DA6B3C-6FAD-4EBC-A621-0A6CE9EA696B}"/>
              </a:ext>
            </a:extLst>
          </p:cNvPr>
          <p:cNvSpPr>
            <a:spLocks noGrp="1"/>
          </p:cNvSpPr>
          <p:nvPr/>
        </p:nvSpPr>
        <p:spPr>
          <a:xfrm>
            <a:off x="9315450" y="3762375"/>
            <a:ext cx="17526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Close only with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authoritative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outcome evidence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F5B35E-1539-4787-AC36-F6CCEBDFBBC2}"/>
              </a:ext>
            </a:extLst>
          </p:cNvPr>
          <p:cNvSpPr>
            <a:spLocks noGrp="1"/>
          </p:cNvSpPr>
          <p:nvPr/>
        </p:nvSpPr>
        <p:spPr>
          <a:xfrm>
            <a:off x="781050" y="561022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 successful tool call is not the same as a verified business outcome.</a:t>
            </a:r>
          </a:p>
        </p:txBody>
      </p:sp>
    </p:spTree>
    <p:extLst>
      <p:ext uri="{BB962C8B-B14F-4D97-AF65-F5344CB8AC3E}">
        <p14:creationId xmlns:p14="http://schemas.microsoft.com/office/powerpoint/2010/main" val="2034040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op-accent-6">
            <a:extLst>
              <a:ext uri="{FF2B5EF4-FFF2-40B4-BE49-F238E27FC236}">
                <a16:creationId xmlns:a16="http://schemas.microsoft.com/office/drawing/2014/main" id="{13C17406-A461-4F2D-BDB1-8E5C06DE34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A5FDB32F-66F5-4E43-AE76-E204AD81D465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Deterministic money. Controlled actions.</a:t>
            </a:r>
          </a:p>
        </p:txBody>
      </p:sp>
      <p:sp>
        <p:nvSpPr>
          <p:cNvPr id="3" name="subtitle-6">
            <a:extLst>
              <a:ext uri="{FF2B5EF4-FFF2-40B4-BE49-F238E27FC236}">
                <a16:creationId xmlns:a16="http://schemas.microsoft.com/office/drawing/2014/main" id="{C89969DD-B5AA-4823-9A98-071D93D2B239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Bounded autonomy keeps money facts and consequential actions under explicit controls.</a:t>
            </a:r>
          </a:p>
        </p:txBody>
      </p:sp>
      <p:sp>
        <p:nvSpPr>
          <p:cNvPr id="4" name="footer-rule-6">
            <a:extLst>
              <a:ext uri="{FF2B5EF4-FFF2-40B4-BE49-F238E27FC236}">
                <a16:creationId xmlns:a16="http://schemas.microsoft.com/office/drawing/2014/main" id="{636FFDFD-F533-4698-9BBD-685FB5AC1326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6D48C-909F-4401-A90B-C772FCD2B10D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A0041-1215-47E6-963B-05005E02BE49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809810-4873-4A17-BFF3-2A89208F6057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Money and matching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DA3803-CAD1-472E-8E2A-47D37DC8C114}"/>
              </a:ext>
            </a:extLst>
          </p:cNvPr>
          <p:cNvSpPr>
            <a:spLocks noGrp="1"/>
          </p:cNvSpPr>
          <p:nvPr/>
        </p:nvSpPr>
        <p:spPr>
          <a:xfrm>
            <a:off x="3714750" y="201930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 services calculate and classify financial records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03F81-F9DE-4611-AACE-A5BDC086D959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102870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1B524-D638-4C93-8C4F-B7C3F4D14450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Agent role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25E7ED-1348-4C22-9DFB-C41F2130A70D}"/>
              </a:ext>
            </a:extLst>
          </p:cNvPr>
          <p:cNvSpPr>
            <a:spLocks noGrp="1"/>
          </p:cNvSpPr>
          <p:nvPr/>
        </p:nvSpPr>
        <p:spPr>
          <a:xfrm>
            <a:off x="3714750" y="28003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Find evidence, explain the exception and prepare permitted workflow 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75443A-0B2B-4372-A6A0-BEE677B745FF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102870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9031-2C3C-4B22-9B7D-5EDF30B4F036}"/>
              </a:ext>
            </a:extLst>
          </p:cNvPr>
          <p:cNvSpPr>
            <a:spLocks noGrp="1"/>
          </p:cNvSpPr>
          <p:nvPr/>
        </p:nvSpPr>
        <p:spPr>
          <a:xfrm>
            <a:off x="800100" y="35814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Restricted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E323F-65EC-40CD-8288-CE17D749A87B}"/>
              </a:ext>
            </a:extLst>
          </p:cNvPr>
          <p:cNvSpPr>
            <a:spLocks noGrp="1"/>
          </p:cNvSpPr>
          <p:nvPr/>
        </p:nvSpPr>
        <p:spPr>
          <a:xfrm>
            <a:off x="3714750" y="358140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 an authorized person to approve before submission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FCBBDD-410A-4FEF-9F80-CAF8D977DEA9}"/>
              </a:ext>
            </a:extLst>
          </p:cNvPr>
          <p:cNvSpPr>
            <a:spLocks noGrp="1"/>
          </p:cNvSpPr>
          <p:nvPr/>
        </p:nvSpPr>
        <p:spPr>
          <a:xfrm>
            <a:off x="800100" y="4133850"/>
            <a:ext cx="102870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259488-590C-44F0-B672-0DE157EB5439}"/>
              </a:ext>
            </a:extLst>
          </p:cNvPr>
          <p:cNvSpPr>
            <a:spLocks noGrp="1"/>
          </p:cNvSpPr>
          <p:nvPr/>
        </p:nvSpPr>
        <p:spPr>
          <a:xfrm>
            <a:off x="800100" y="43624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Case closure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61EEF3-10D9-4543-88A3-58CFBCE58385}"/>
              </a:ext>
            </a:extLst>
          </p:cNvPr>
          <p:cNvSpPr>
            <a:spLocks noGrp="1"/>
          </p:cNvSpPr>
          <p:nvPr/>
        </p:nvSpPr>
        <p:spPr>
          <a:xfrm>
            <a:off x="3714750" y="43624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 a supported terminal outcome from authoritative 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4F4E0C-48F7-44F0-B0BB-613069F78D26}"/>
              </a:ext>
            </a:extLst>
          </p:cNvPr>
          <p:cNvSpPr>
            <a:spLocks noGrp="1"/>
          </p:cNvSpPr>
          <p:nvPr/>
        </p:nvSpPr>
        <p:spPr>
          <a:xfrm>
            <a:off x="800100" y="4914900"/>
            <a:ext cx="102870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6F1879-53DA-47D7-96CC-61F2552DC439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36F679-5093-42AD-8CB6-F9B888D4FC07}"/>
              </a:ext>
            </a:extLst>
          </p:cNvPr>
          <p:cNvSpPr>
            <a:spLocks noGrp="1"/>
          </p:cNvSpPr>
          <p:nvPr/>
        </p:nvSpPr>
        <p:spPr>
          <a:xfrm>
            <a:off x="3714750" y="514350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Retain source provenance, decisions, approvals and case events</a:t>
            </a:r>
          </a:p>
        </p:txBody>
      </p:sp>
    </p:spTree>
    <p:extLst>
      <p:ext uri="{BB962C8B-B14F-4D97-AF65-F5344CB8AC3E}">
        <p14:creationId xmlns:p14="http://schemas.microsoft.com/office/powerpoint/2010/main" val="361299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op-accent-7">
            <a:extLst>
              <a:ext uri="{FF2B5EF4-FFF2-40B4-BE49-F238E27FC236}">
                <a16:creationId xmlns:a16="http://schemas.microsoft.com/office/drawing/2014/main" id="{5EC00F78-9220-4B99-A53E-85B19D58EB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0D2A9A96-F1CA-4EC0-81D5-832EA1E3FDCA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03"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Start with settlement reconciliation, then expand by provider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DBA81CD8-210F-4F8B-A7C0-0D22817E4598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A narrow initial workflow can test the foundation for a broader operations layer.</a:t>
            </a:r>
          </a:p>
        </p:txBody>
      </p:sp>
      <p:sp>
        <p:nvSpPr>
          <p:cNvPr id="4" name="footer-rule-7">
            <a:extLst>
              <a:ext uri="{FF2B5EF4-FFF2-40B4-BE49-F238E27FC236}">
                <a16:creationId xmlns:a16="http://schemas.microsoft.com/office/drawing/2014/main" id="{D4C12380-F82E-4F64-9CFC-68AFA98FBA9D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3E043-3B92-4A50-97D8-F0DC2DC8A401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98499C-C899-4EBA-8C6D-05BDFD50EBA5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DACEFA-8D90-4B0D-9294-0A61F297CAD9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INITIAL WEDGE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43649-DD00-4F98-B697-5EBA56FCDD87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4457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3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Settlement-to-bank exceptions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FC326-8A8C-4C3D-B669-F95862DF4648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4191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 painful, evidence-heavy task with an observable result: a qualified bank match or an unresolved case.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181946-C803-4BB9-9FC8-18A79FE96700}"/>
              </a:ext>
            </a:extLst>
          </p:cNvPr>
          <p:cNvSpPr>
            <a:spLocks noGrp="1"/>
          </p:cNvSpPr>
          <p:nvPr/>
        </p:nvSpPr>
        <p:spPr>
          <a:xfrm>
            <a:off x="5962650" y="2076450"/>
            <a:ext cx="19050" cy="3276600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4B799F-7550-437F-8E59-3564A25729BF}"/>
              </a:ext>
            </a:extLst>
          </p:cNvPr>
          <p:cNvSpPr>
            <a:spLocks noGrp="1"/>
          </p:cNvSpPr>
          <p:nvPr/>
        </p:nvSpPr>
        <p:spPr>
          <a:xfrm>
            <a:off x="6477000" y="2095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EXPANSION PATH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EABB5-7922-48C8-A8E5-02CCEDCEFD8E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250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Add providers through adapters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E6B5B-6143-4822-AFAE-2D03C68BEF57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4229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Keep reconciliation logic on a shared financial model as sources and workflows grow.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60186E-D494-4211-9492-665F23D40A4D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COMMERCIAL HYPOTHESIS TO 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6D130B-D393-4E8F-BE05-D8140F00EB5A}"/>
              </a:ext>
            </a:extLst>
          </p:cNvPr>
          <p:cNvSpPr>
            <a:spLocks noGrp="1"/>
          </p:cNvSpPr>
          <p:nvPr/>
        </p:nvSpPr>
        <p:spPr>
          <a:xfrm>
            <a:off x="800100" y="501015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Subscription tiers by business size and connected data volume</a:t>
            </a:r>
          </a:p>
        </p:txBody>
      </p:sp>
    </p:spTree>
    <p:extLst>
      <p:ext uri="{BB962C8B-B14F-4D97-AF65-F5344CB8AC3E}">
        <p14:creationId xmlns:p14="http://schemas.microsoft.com/office/powerpoint/2010/main" val="107183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-8">
            <a:extLst>
              <a:ext uri="{FF2B5EF4-FFF2-40B4-BE49-F238E27FC236}">
                <a16:creationId xmlns:a16="http://schemas.microsoft.com/office/drawing/2014/main" id="{A3255AF2-35F2-4C7C-8527-5171EE74BC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96A1BC1-36E7-40F4-889B-FC4F2F433EB2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44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2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Reconciliation engine is built</a:t>
            </a:r>
          </a:p>
        </p:txBody>
      </p:sp>
      <p:sp>
        <p:nvSpPr>
          <p:cNvPr id="3" name="subtitle-8">
            <a:extLst>
              <a:ext uri="{FF2B5EF4-FFF2-40B4-BE49-F238E27FC236}">
                <a16:creationId xmlns:a16="http://schemas.microsoft.com/office/drawing/2014/main" id="{7392E781-0AAE-419B-B9B4-D5EFDDE5866C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M1 data foundations and M2 reconciliation are done. Case, UI and agent milestones remain.</a:t>
            </a:r>
          </a:p>
        </p:txBody>
      </p:sp>
      <p:sp>
        <p:nvSpPr>
          <p:cNvPr id="4" name="footer-rule-8">
            <a:extLst>
              <a:ext uri="{FF2B5EF4-FFF2-40B4-BE49-F238E27FC236}">
                <a16:creationId xmlns:a16="http://schemas.microsoft.com/office/drawing/2014/main" id="{242CCD3B-F6B9-4848-80BE-6F2CFB8AEAF0}"/>
              </a:ext>
            </a:extLst>
          </p:cNvPr>
          <p:cNvSpPr>
            <a:spLocks noGrp="1"/>
          </p:cNvSpPr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1EB28-0D39-4F2B-A4B9-67F5440DB23C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5165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579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83C165-6E7F-40B3-976B-33F750D561F2}"/>
              </a:ext>
            </a:extLst>
          </p:cNvPr>
          <p:cNvSpPr>
            <a:spLocks noGrp="1"/>
          </p:cNvSpPr>
          <p:nvPr/>
        </p:nvSpPr>
        <p:spPr>
          <a:xfrm>
            <a:off x="10953750" y="6391275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2A4601-671B-4024-B3AB-12A3B1E14DF4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1684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46B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61BA39-3690-4853-A5ED-9822E01032A7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M1  Data foundations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E8BA-3513-4DE8-9F41-CA5606A371D7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4476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Canonical records, validated imports, provenance and synthetic fixtures.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CACC7-8304-4947-BFB4-FBB71A8A83A1}"/>
              </a:ext>
            </a:extLst>
          </p:cNvPr>
          <p:cNvSpPr>
            <a:spLocks noGrp="1"/>
          </p:cNvSpPr>
          <p:nvPr/>
        </p:nvSpPr>
        <p:spPr>
          <a:xfrm>
            <a:off x="800100" y="387667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2025" b="1">
                <a:solidFill>
                  <a:srgbClr val="0029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2970"/>
                </a:solidFill>
                <a:latin typeface="Arial"/>
                <a:ea typeface="Arial"/>
                <a:cs typeface="Arial"/>
              </a:rPr>
              <a:t>M2  Reconciliation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1F97C5-A839-462E-93F9-3517256615A1}"/>
              </a:ext>
            </a:extLst>
          </p:cNvPr>
          <p:cNvSpPr>
            <a:spLocks noGrp="1"/>
          </p:cNvSpPr>
          <p:nvPr/>
        </p:nvSpPr>
        <p:spPr>
          <a:xfrm>
            <a:off x="800100" y="4371975"/>
            <a:ext cx="457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Deterministic matching and 10 scenario classifications against the fixture oracle.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C6C1E6-35C9-4DE4-8BA4-C78F3AAEFF41}"/>
              </a:ext>
            </a:extLst>
          </p:cNvPr>
          <p:cNvSpPr>
            <a:spLocks noGrp="1"/>
          </p:cNvSpPr>
          <p:nvPr/>
        </p:nvSpPr>
        <p:spPr>
          <a:xfrm>
            <a:off x="5962650" y="2047875"/>
            <a:ext cx="19050" cy="3505200"/>
          </a:xfrm>
          <a:prstGeom prst="rect">
            <a:avLst/>
          </a:prstGeom>
          <a:solidFill>
            <a:srgbClr val="BCD9E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333545-ED4D-4256-87C9-F30CC113B6A5}"/>
              </a:ext>
            </a:extLst>
          </p:cNvPr>
          <p:cNvSpPr>
            <a:spLocks noGrp="1"/>
          </p:cNvSpPr>
          <p:nvPr/>
        </p:nvSpPr>
        <p:spPr>
          <a:xfrm>
            <a:off x="6477000" y="204787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125" b="1">
                <a:solidFill>
                  <a:srgbClr val="B85C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5C00"/>
                </a:solidFill>
                <a:latin typeface="Arial"/>
                <a:ea typeface="Arial"/>
                <a:cs typeface="Arial"/>
              </a:rPr>
              <a:t>NEXT MILESTONES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CD9D65-F66E-43A5-9FB8-4F00A4D086CE}"/>
              </a:ext>
            </a:extLst>
          </p:cNvPr>
          <p:cNvSpPr>
            <a:spLocks noGrp="1"/>
          </p:cNvSpPr>
          <p:nvPr/>
        </p:nvSpPr>
        <p:spPr>
          <a:xfrm>
            <a:off x="6477000" y="2486025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E9E629-5C66-4DCD-A21E-83F8069D5F72}"/>
              </a:ext>
            </a:extLst>
          </p:cNvPr>
          <p:cNvSpPr>
            <a:spLocks noGrp="1"/>
          </p:cNvSpPr>
          <p:nvPr/>
        </p:nvSpPr>
        <p:spPr>
          <a:xfrm>
            <a:off x="7658100" y="24574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Case state, approvals and audit events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CD1348-319A-4B8E-88CC-AC59B888C47E}"/>
              </a:ext>
            </a:extLst>
          </p:cNvPr>
          <p:cNvSpPr>
            <a:spLocks noGrp="1"/>
          </p:cNvSpPr>
          <p:nvPr/>
        </p:nvSpPr>
        <p:spPr>
          <a:xfrm>
            <a:off x="6477000" y="3209925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65ED74-695D-4EF0-A798-B751E9612718}"/>
              </a:ext>
            </a:extLst>
          </p:cNvPr>
          <p:cNvSpPr>
            <a:spLocks noGrp="1"/>
          </p:cNvSpPr>
          <p:nvPr/>
        </p:nvSpPr>
        <p:spPr>
          <a:xfrm>
            <a:off x="7658100" y="31813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Dashboard and exception review 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EE99ED-6FC2-4A16-BEC5-209271B8609C}"/>
              </a:ext>
            </a:extLst>
          </p:cNvPr>
          <p:cNvSpPr>
            <a:spLocks noGrp="1"/>
          </p:cNvSpPr>
          <p:nvPr/>
        </p:nvSpPr>
        <p:spPr>
          <a:xfrm>
            <a:off x="6477000" y="3933825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M5–M6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8775C8-9636-4056-AEB3-5C2931F536A2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Agent workflow, support connector and verification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BAB76C-98BE-4927-889D-EEA0D7BBAA98}"/>
              </a:ext>
            </a:extLst>
          </p:cNvPr>
          <p:cNvSpPr>
            <a:spLocks noGrp="1"/>
          </p:cNvSpPr>
          <p:nvPr/>
        </p:nvSpPr>
        <p:spPr>
          <a:xfrm>
            <a:off x="6477000" y="4657725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350" b="1">
                <a:solidFill>
                  <a:srgbClr val="00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57B8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953CE-0C98-4EE9-8D7B-3DAEBCD83B22}"/>
              </a:ext>
            </a:extLst>
          </p:cNvPr>
          <p:cNvSpPr>
            <a:spLocks noGrp="1"/>
          </p:cNvSpPr>
          <p:nvPr/>
        </p:nvSpPr>
        <p:spPr>
          <a:xfrm>
            <a:off x="7658100" y="46291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>
            <a:def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Runnable end-to-end demo and release checks</a:t>
            </a:r>
          </a:p>
        </p:txBody>
      </p:sp>
    </p:spTree>
    <p:extLst>
      <p:ext uri="{BB962C8B-B14F-4D97-AF65-F5344CB8AC3E}">
        <p14:creationId xmlns:p14="http://schemas.microsoft.com/office/powerpoint/2010/main" val="93945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ose-accent">
            <a:extLst>
              <a:ext uri="{FF2B5EF4-FFF2-40B4-BE49-F238E27FC236}">
                <a16:creationId xmlns:a16="http://schemas.microsoft.com/office/drawing/2014/main" id="{14FBEF26-F0E4-46BA-8012-77D0E17105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F2374-ECD4-4886-9106-A5E1E7C745C0}"/>
              </a:ext>
            </a:extLst>
          </p:cNvPr>
          <p:cNvSpPr>
            <a:spLocks noGrp="1"/>
          </p:cNvSpPr>
          <p:nvPr/>
        </p:nvSpPr>
        <p:spPr>
          <a:xfrm>
            <a:off x="781050" y="8191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275" b="1">
                <a:solidFill>
                  <a:srgbClr val="00B9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B9F2"/>
                </a:solidFill>
                <a:latin typeface="Arial"/>
                <a:ea typeface="Arial"/>
                <a:cs typeface="Arial"/>
              </a:rPr>
              <a:t>PROPOSED NEXT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407EE6-A601-4D9B-A276-EB1C67534A99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962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the workflow with design partners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D0260-034B-44B2-8207-E02F0271D26B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962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87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Work with merchant finance and operations teams to map available exports, measure today’s reconciliation effort and test the evidence-backed case 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66D849-0402-480D-94B6-B094EB48CF9F}"/>
              </a:ext>
            </a:extLst>
          </p:cNvPr>
          <p:cNvSpPr>
            <a:spLocks noGrp="1"/>
          </p:cNvSpPr>
          <p:nvPr/>
        </p:nvSpPr>
        <p:spPr>
          <a:xfrm>
            <a:off x="800100" y="3429000"/>
            <a:ext cx="1714500" cy="47625"/>
          </a:xfrm>
          <a:prstGeom prst="rect">
            <a:avLst/>
          </a:prstGeom>
          <a:solidFill>
            <a:srgbClr val="00B9F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15B14A-5F82-4831-ADB2-60C2902327B8}"/>
              </a:ext>
            </a:extLst>
          </p:cNvPr>
          <p:cNvSpPr>
            <a:spLocks noGrp="1"/>
          </p:cNvSpPr>
          <p:nvPr/>
        </p:nvSpPr>
        <p:spPr>
          <a:xfrm>
            <a:off x="800100" y="37623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success measures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23A99-8C5E-477A-B98B-E2ABDFB67693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600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Reconciliation accuracy</a:t>
            </a:r>
          </a:p>
          <a:p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Time to detect and resolve</a:t>
            </a:r>
          </a:p>
          <a:p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Evidence completeness</a:t>
            </a:r>
          </a:p>
          <a:p>
            <a:pPr algn="l">
              <a:lnSpc>
                <a:spcPct val="132000"/>
              </a:lnSpc>
              <a:buNone/>
              <a:defRPr sz="1725" b="0">
                <a:solidFill>
                  <a:srgbClr val="E4F3F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4F3F9"/>
                </a:solidFill>
                <a:latin typeface="Arial"/>
                <a:ea typeface="Arial"/>
                <a:cs typeface="Arial"/>
              </a:rPr>
              <a:t>False closure rate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AC5C3-746F-439A-9DCD-0989BF0DD89B}"/>
              </a:ext>
            </a:extLst>
          </p:cNvPr>
          <p:cNvSpPr>
            <a:spLocks noGrp="1"/>
          </p:cNvSpPr>
          <p:nvPr/>
        </p:nvSpPr>
        <p:spPr>
          <a:xfrm>
            <a:off x="6953250" y="4381500"/>
            <a:ext cx="4286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Begin with synthetic data. Add real data only through authorized connections and consented pilots.</a:t>
            </a:r>
          </a:p>
        </p:txBody>
      </p:sp>
      <p:sp>
        <p:nvSpPr>
          <p:cNvPr id="9" name="close-lower-band">
            <a:extLst>
              <a:ext uri="{FF2B5EF4-FFF2-40B4-BE49-F238E27FC236}">
                <a16:creationId xmlns:a16="http://schemas.microsoft.com/office/drawing/2014/main" id="{C2D9DCDE-E689-4381-9E5F-8E536ABA82F7}"/>
              </a:ext>
            </a:extLst>
          </p:cNvPr>
          <p:cNvSpPr>
            <a:spLocks noGrp="1"/>
          </p:cNvSpPr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57B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56EB0C-B216-4BE7-AD54-F829265B94DB}"/>
              </a:ext>
            </a:extLst>
          </p:cNvPr>
          <p:cNvSpPr>
            <a:spLocks noGrp="1"/>
          </p:cNvSpPr>
          <p:nvPr/>
        </p:nvSpPr>
        <p:spPr>
          <a:xfrm>
            <a:off x="781050" y="640080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SettleSaathi  /  Independent project concept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4E906D-75C0-4704-90E6-C757BFA27645}"/>
              </a:ext>
            </a:extLst>
          </p:cNvPr>
          <p:cNvSpPr>
            <a:spLocks noGrp="1"/>
          </p:cNvSpPr>
          <p:nvPr/>
        </p:nvSpPr>
        <p:spPr>
          <a:xfrm>
            <a:off x="10953750" y="63817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808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DocSecurity>0</DocSecurity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Atul Harsh</cp:lastModifiedBy>
  <cp:revision>2</cp:revision>
  <dcterms:created xsi:type="dcterms:W3CDTF">2026-10-31T10:18:36Z</dcterms:created>
  <dcterms:modified xsi:type="dcterms:W3CDTF">2026-10-31T10:21:22Z</dcterms:modified>
</cp:coreProperties>
</file>